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3.png"/><Relationship Id="rId5" Type="http://schemas.openxmlformats.org/officeDocument/2006/relationships/image" Target="../media/image-5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4572000" cy="45720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38BDF8">
              <a:alpha val="8000"/>
            </a:srgbClr>
          </a:solidFill>
          <a:ln/>
        </p:spPr>
      </p:sp>
      <p:pic>
        <p:nvPicPr>
          <p:cNvPr id="4" name="Image 0" descr="icon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1905" y="105156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0" y="306324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KELELA SOLUTIONS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0" y="37033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Compliance Platform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981505" y="4343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compliance for INSA, NBE, and international security frameworks — built for Ethiopian banks, telecoms, and critical infrastructure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  ·  ARCHITECTURE  ·  SECURITY  ·  ROADMAP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is mandatory. Proving it is where organizations struggle.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121B2E"/>
          </a:solidFill>
          <a:ln w="12700">
            <a:solidFill>
              <a:srgbClr val="2431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40280"/>
            <a:ext cx="548640" cy="548640"/>
          </a:xfrm>
          <a:prstGeom prst="ellipse">
            <a:avLst/>
          </a:prstGeom>
          <a:solidFill>
            <a:srgbClr val="F87171"/>
          </a:solidFill>
          <a:ln/>
        </p:spPr>
      </p:sp>
      <p:pic>
        <p:nvPicPr>
          <p:cNvPr id="6" name="Image 0" descr="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" y="2363724"/>
            <a:ext cx="301752" cy="30175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22199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obligations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79192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banks and telecoms must satisfy INSA and NBE requirements in parallel, often proving the same underlying control twice in different formats.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96596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121B2E"/>
          </a:solidFill>
          <a:ln w="12700">
            <a:solidFill>
              <a:srgbClr val="24314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92240" y="2240280"/>
            <a:ext cx="548640" cy="548640"/>
          </a:xfrm>
          <a:prstGeom prst="ellipse">
            <a:avLst/>
          </a:prstGeom>
          <a:solidFill>
            <a:srgbClr val="F87171"/>
          </a:solidFill>
          <a:ln/>
        </p:spPr>
      </p:sp>
      <p:pic>
        <p:nvPicPr>
          <p:cNvPr id="11" name="Image 1" descr="icons/filetex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684" y="236372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23760" y="222199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Spreadsheet-based tracking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2679192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system of record, ownership, evidence, and deadlines live in disconnected spreadsheets that nobody fully trusts.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121B2E"/>
          </a:solidFill>
          <a:ln w="12700">
            <a:solidFill>
              <a:srgbClr val="24314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4297680"/>
            <a:ext cx="548640" cy="548640"/>
          </a:xfrm>
          <a:prstGeom prst="ellipse">
            <a:avLst/>
          </a:prstGeom>
          <a:solidFill>
            <a:srgbClr val="F87171"/>
          </a:solidFill>
          <a:ln/>
        </p:spPr>
      </p:sp>
      <p:pic>
        <p:nvPicPr>
          <p:cNvPr id="16" name="Image 2" descr="icons/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" y="442112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427939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Time-critical obligations missed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4736592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 requires incident disclosure within 48 hours. Without an active countdown, teams discover a missed deadline only after it matters.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402336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121B2E"/>
          </a:solidFill>
          <a:ln w="12700">
            <a:solidFill>
              <a:srgbClr val="24314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92240" y="4297680"/>
            <a:ext cx="548640" cy="548640"/>
          </a:xfrm>
          <a:prstGeom prst="ellipse">
            <a:avLst/>
          </a:prstGeom>
          <a:solidFill>
            <a:srgbClr val="F87171"/>
          </a:solidFill>
          <a:ln/>
        </p:spPr>
      </p:sp>
      <p:pic>
        <p:nvPicPr>
          <p:cNvPr id="21" name="Image 3" descr="icons/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684" y="442112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23760" y="427939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audit-ready evidence trail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492240" y="4736592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auditor asks 'prove it,' evidence is scattered, undated, and impossible to verify as untampered.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KELELA SOLUTIONS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33856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is no dedicated compliance platform serving this market today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 builds security tooling. General software firms build custom one-off systems. Global GRC platforms (Drata, Sprinto, OneTrust) don't understand INSA or NBE directives at all.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718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Sectors now under INSA audit power, per the current proclamation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834640" y="29718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37490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compliance obligations enterprises must satisfy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120640" y="29718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48h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37490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INSA incident disclosure window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635240" y="1783080"/>
            <a:ext cx="3977640" cy="3931920"/>
          </a:xfrm>
          <a:prstGeom prst="roundRect">
            <a:avLst>
              <a:gd name="adj" fmla="val 1860"/>
            </a:avLst>
          </a:prstGeom>
          <a:solidFill>
            <a:srgbClr val="121B2E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55280" y="2103120"/>
            <a:ext cx="594360" cy="59436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3" name="Image 0" descr="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9011" y="2236851"/>
            <a:ext cx="326898" cy="326898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955280" y="28346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Regulators are actively converging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3383280"/>
            <a:ext cx="3337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NBE and INSA are working to harmonize their directives into a unified, risk-based national framework. Whoever builds the system of record for that transition earns the default vendor position with every regulated enterprise in the country.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KELELA SOLUTIONS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33856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Kelela Solutions is — and isn't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121B2E"/>
          </a:solidFill>
          <a:ln w="12700">
            <a:solidFill>
              <a:srgbClr val="2431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4884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6" name="Image 0" descr="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98" y="2292858"/>
            <a:ext cx="352044" cy="3520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9718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vendor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65760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and operate the platform: the control catalog, the evidence vault, the incident tracker — maintained centrally, shipped to every client at once.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182880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121B2E"/>
          </a:solidFill>
          <a:ln w="12700">
            <a:solidFill>
              <a:srgbClr val="24314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3440" y="214884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1" name="Image 1" descr="icons/briefc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458" y="229285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63440" y="29718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guidance provider</a:t>
            </a:r>
            <a:endParaRPr lang="en-US" sz="165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365760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regulatory text becomes a trackable, owned, evidence-backed control. That translation work is expertise, not just software.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0" y="182880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121B2E"/>
          </a:solidFill>
          <a:ln w="12700">
            <a:solidFill>
              <a:srgbClr val="24314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58200" y="214884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6" name="Image 2" descr="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2218" y="2292858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58200" y="29718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operator, not the compliant party</a:t>
            </a:r>
            <a:endParaRPr lang="en-US" sz="1650" dirty="0"/>
          </a:p>
        </p:txBody>
      </p:sp>
      <p:sp>
        <p:nvSpPr>
          <p:cNvPr id="18" name="Text 13"/>
          <p:cNvSpPr txBox="1"/>
          <p:nvPr/>
        </p:nvSpPr>
        <p:spPr>
          <a:xfrm>
            <a:off x="8458200" y="365760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remains legally responsible for their own compliance. We provide the system of record — we don't file on their behalf or assume their liability.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989320"/>
            <a:ext cx="11109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line: Kelela Solutions doesn't make companies compliant — it makes compliance something they can actually manage and prove.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KELELA SOLUTIONS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133856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two-layer, multi-tenant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109960" cy="1417320"/>
          </a:xfrm>
          <a:prstGeom prst="roundRect">
            <a:avLst>
              <a:gd name="adj" fmla="val 5161"/>
            </a:avLst>
          </a:prstGeom>
          <a:solidFill>
            <a:srgbClr val="16233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84832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6" name="Image 0" descr="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98" y="2228850"/>
            <a:ext cx="352044" cy="3520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9933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Console  ·  operated by Kelela Solutions staff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3774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(1) and Platform Admins (several) onboard tenants, oversee aggregate health across every organization, and never casually browse one tenant's raw compliance data.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096305" y="3310128"/>
            <a:ext cx="0" cy="457200"/>
          </a:xfrm>
          <a:prstGeom prst="line">
            <a:avLst/>
          </a:prstGeom>
          <a:noFill/>
          <a:ln w="19050">
            <a:solidFill>
              <a:srgbClr val="8B99B3"/>
            </a:solidFill>
            <a:prstDash val="dash"/>
          </a:ln>
        </p:spPr>
      </p:sp>
      <p:pic>
        <p:nvPicPr>
          <p:cNvPr id="10" name="Image 1" descr="icons/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916168" y="3611880"/>
            <a:ext cx="365760" cy="3657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8640" y="416052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121B2E"/>
          </a:solidFill>
          <a:ln w="12700">
            <a:solidFill>
              <a:srgbClr val="24314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04672" y="4416552"/>
            <a:ext cx="502920" cy="502920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13" name="Image 2" descr="icons/briefc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829" y="4529709"/>
            <a:ext cx="276606" cy="27660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04672" y="50292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Kelela Solutions (internal)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804672" y="5458968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its own product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343400" y="416052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121B2E"/>
          </a:solidFill>
          <a:ln w="12700">
            <a:solidFill>
              <a:srgbClr val="24314D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599432" y="4416552"/>
            <a:ext cx="502920" cy="502920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18" name="Image 3" descr="icons/briefc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2589" y="4529709"/>
            <a:ext cx="276606" cy="27660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599432" y="50292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Abyssinia Digital Bank S.C.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4599432" y="5458968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· Trial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8138160" y="416052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121B2E"/>
          </a:solidFill>
          <a:ln w="12700">
            <a:solidFill>
              <a:srgbClr val="24314D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8394192" y="4416552"/>
            <a:ext cx="502920" cy="502920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23" name="Image 4" descr="icons/briefc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7349" y="4529709"/>
            <a:ext cx="276606" cy="27660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394192" y="50292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client organization…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8394192" y="5458968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Onboarded in minutes</a:t>
            </a:r>
            <a:endParaRPr lang="en-US" sz="1050" dirty="0"/>
          </a:p>
        </p:txBody>
      </p:sp>
      <p:sp>
        <p:nvSpPr>
          <p:cNvPr id="26" name="Text 19"/>
          <p:cNvSpPr txBox="1"/>
          <p:nvPr/>
        </p:nvSpPr>
        <p:spPr>
          <a:xfrm>
            <a:off x="548640" y="608076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tenant runs identical code — same UI, same features. What differs is the data, walled off by organization ID on every query.</a:t>
            </a:r>
            <a:endParaRPr lang="en-US" sz="1150" dirty="0"/>
          </a:p>
        </p:txBody>
      </p:sp>
      <p:sp>
        <p:nvSpPr>
          <p:cNvPr id="27" name="Text 20"/>
          <p:cNvSpPr txBox="1"/>
          <p:nvPr/>
        </p:nvSpPr>
        <p:spPr>
          <a:xfrm>
            <a:off x="54864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KELELA SOLUTIONS</a:t>
            </a:r>
            <a:endParaRPr 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1133856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platform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5" name="Image 0" descr="icons/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" y="1997964"/>
            <a:ext cx="301752" cy="3017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53288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Control Matrix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requirement tracked with owner, status, risk level, and due date across 6 frameworks.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4343400" y="187452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9" name="Image 1" descr="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844" y="1997964"/>
            <a:ext cx="301752" cy="30175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343400" y="253288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Incident SLA Tracking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4343400" y="301752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48-hour INSA disclosure countdown, with auto-flagging when a linked control breaches.</a:t>
            </a:r>
            <a:endParaRPr lang="en-US" sz="1080" dirty="0"/>
          </a:p>
        </p:txBody>
      </p:sp>
      <p:sp>
        <p:nvSpPr>
          <p:cNvPr id="12" name="Shape 8"/>
          <p:cNvSpPr/>
          <p:nvPr/>
        </p:nvSpPr>
        <p:spPr>
          <a:xfrm>
            <a:off x="8138160" y="187452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3" name="Image 2" descr="icons/uplo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1604" y="1997964"/>
            <a:ext cx="301752" cy="30175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138160" y="253288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Tamper-Evident Evidence Vault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8138160" y="301752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uploaded file is SHA-256 hashed on receipt and re-verified on every download.</a:t>
            </a:r>
            <a:endParaRPr lang="en-US" sz="1080" dirty="0"/>
          </a:p>
        </p:txBody>
      </p:sp>
      <p:sp>
        <p:nvSpPr>
          <p:cNvPr id="16" name="Shape 11"/>
          <p:cNvSpPr/>
          <p:nvPr/>
        </p:nvSpPr>
        <p:spPr>
          <a:xfrm>
            <a:off x="548640" y="397764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7" name="Image 3" descr="icons/filetex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4101084"/>
            <a:ext cx="301752" cy="30175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48640" y="463600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One-Click Audit Reports</a:t>
            </a:r>
            <a:endParaRPr lang="en-US" sz="135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512064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and full auditor-ledger PDF exports, generated server-side on demand.</a:t>
            </a:r>
            <a:endParaRPr lang="en-US" sz="1080" dirty="0"/>
          </a:p>
        </p:txBody>
      </p:sp>
      <p:sp>
        <p:nvSpPr>
          <p:cNvPr id="20" name="Shape 14"/>
          <p:cNvSpPr/>
          <p:nvPr/>
        </p:nvSpPr>
        <p:spPr>
          <a:xfrm>
            <a:off x="4343400" y="397764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21" name="Image 4" descr="icons/bar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6844" y="4101084"/>
            <a:ext cx="301752" cy="30175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343400" y="463600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Readiness Trends &amp; Charts</a:t>
            </a:r>
            <a:endParaRPr lang="en-US" sz="1350" dirty="0"/>
          </a:p>
        </p:txBody>
      </p:sp>
      <p:sp>
        <p:nvSpPr>
          <p:cNvPr id="23" name="Text 16"/>
          <p:cNvSpPr txBox="1"/>
          <p:nvPr/>
        </p:nvSpPr>
        <p:spPr>
          <a:xfrm>
            <a:off x="4343400" y="512064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readiness history, framework status breakdowns, and risk distribution at a glance.</a:t>
            </a:r>
            <a:endParaRPr lang="en-US" sz="1080" dirty="0"/>
          </a:p>
        </p:txBody>
      </p:sp>
      <p:sp>
        <p:nvSpPr>
          <p:cNvPr id="24" name="Shape 17"/>
          <p:cNvSpPr/>
          <p:nvPr/>
        </p:nvSpPr>
        <p:spPr>
          <a:xfrm>
            <a:off x="8138160" y="397764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25" name="Image 5" descr="icons/us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1604" y="4101084"/>
            <a:ext cx="301752" cy="30175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138160" y="463600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Tenant Management</a:t>
            </a:r>
            <a:endParaRPr lang="en-US" sz="1350" dirty="0"/>
          </a:p>
        </p:txBody>
      </p:sp>
      <p:sp>
        <p:nvSpPr>
          <p:cNvPr id="27" name="Text 19"/>
          <p:cNvSpPr txBox="1"/>
          <p:nvPr/>
        </p:nvSpPr>
        <p:spPr>
          <a:xfrm>
            <a:off x="8138160" y="512064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admins invite their own team; Kelela staff onboard and oversee tenants centrally.</a:t>
            </a:r>
            <a:endParaRPr lang="en-US" sz="1080" dirty="0"/>
          </a:p>
        </p:txBody>
      </p:sp>
      <p:sp>
        <p:nvSpPr>
          <p:cNvPr id="28" name="Text 20"/>
          <p:cNvSpPr txBox="1"/>
          <p:nvPr/>
        </p:nvSpPr>
        <p:spPr>
          <a:xfrm>
            <a:off x="54864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KELELA SOLUTIONS</a:t>
            </a:r>
            <a:endParaRPr lang="en-US" sz="900" dirty="0"/>
          </a:p>
        </p:txBody>
      </p:sp>
      <p:sp>
        <p:nvSpPr>
          <p:cNvPr id="29" name="Text 21"/>
          <p:cNvSpPr txBox="1"/>
          <p:nvPr/>
        </p:nvSpPr>
        <p:spPr>
          <a:xfrm>
            <a:off x="1133856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frameworks, independently tracked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21B2E"/>
          </a:solidFill>
          <a:ln w="12700">
            <a:solidFill>
              <a:srgbClr val="2431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0312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F87171">
              <a:alpha val="2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103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517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Infrastructure Proclamation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461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· Ethiopia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43400" y="187452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21B2E"/>
          </a:solidFill>
          <a:ln w="12700">
            <a:solidFill>
              <a:srgbClr val="2431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10312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F87171">
              <a:alpha val="2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2103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6517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Cybersecurity Directive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2461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· Financial sector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187452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21B2E"/>
          </a:solidFill>
          <a:ln w="12700">
            <a:solidFill>
              <a:srgbClr val="2431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210312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3B82F6">
              <a:alpha val="2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6760" y="2103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6517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 Security Management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32461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baseline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21B2E"/>
          </a:solidFill>
          <a:ln w="12700">
            <a:solidFill>
              <a:srgbClr val="2431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20624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3B82F6">
              <a:alpha val="2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206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 2.0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7548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 · Identify · Protect · Detect · Respond · Recover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3492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43400" y="39776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21B2E"/>
          </a:solidFill>
          <a:ln w="12700">
            <a:solidFill>
              <a:srgbClr val="2431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420624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38BDF8">
              <a:alpha val="2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0" y="4206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DSS v4.0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47548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Cardholder Data Security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53492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· Payment data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38160" y="39776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21B2E"/>
          </a:solidFill>
          <a:ln w="12700">
            <a:solidFill>
              <a:srgbClr val="24314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66760" y="420624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38BDF8">
              <a:alpha val="2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66760" y="4206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366760" y="47548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Services Criteria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53492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due diligence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08076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that satisfy the same underlying requirement across frameworks are cross-referenced — proving one satisfies several.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KELELA SOLUTIONS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33856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MODEL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tiers, two scopes, zero ambiguity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121B2E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48840"/>
            <a:ext cx="594360" cy="59436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6" name="Image 0" descr="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691" y="2282571"/>
            <a:ext cx="326898" cy="32689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8803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 Admin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918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Platform-wide · 1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7033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control: onboard or remove tenants, manage Platform Admins, suspend access.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3400" y="187452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121B2E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7720" y="2148840"/>
            <a:ext cx="594360" cy="594360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12" name="Image 1" descr="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451" y="2282571"/>
            <a:ext cx="326898" cy="32689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17720" y="28803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Admin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32918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Platform-wide · several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4617720" y="37033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and view tenants day-to-day — cannot suspend a tenant or manage other staff.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38160" y="187452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121B2E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12480" y="2148840"/>
            <a:ext cx="594360" cy="59436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8" name="Image 2" descr="icons/briefc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6211" y="2282571"/>
            <a:ext cx="326898" cy="32689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12480" y="28803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 Admin &amp; Team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412480" y="32918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tenant org · many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8412480" y="37033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within their own organization — invite teammates, assign controls, manage incidents.</a:t>
            </a:r>
            <a:endParaRPr lang="en-US" sz="115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544068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with dedicated runtime guards — not just UI conditionals — on every route.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KELELA SOLUTIONS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1133856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security-first, not security-added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40680" cy="749808"/>
          </a:xfrm>
          <a:prstGeom prst="roundRect">
            <a:avLst>
              <a:gd name="adj" fmla="val 8537"/>
            </a:avLst>
          </a:prstGeom>
          <a:solidFill>
            <a:srgbClr val="121B2E"/>
          </a:solidFill>
          <a:ln w="12700">
            <a:solidFill>
              <a:srgbClr val="2431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975104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6" name="Image 0" descr="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" y="2098548"/>
            <a:ext cx="301752" cy="30175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08176" y="194767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Argon2id password hashing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408176" y="2240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OWASP-recommended memory-hard hashing, not a fast general-purpose hash.</a:t>
            </a:r>
            <a:endParaRPr lang="en-US" sz="970" dirty="0"/>
          </a:p>
        </p:txBody>
      </p:sp>
      <p:sp>
        <p:nvSpPr>
          <p:cNvPr id="9" name="Shape 6"/>
          <p:cNvSpPr/>
          <p:nvPr/>
        </p:nvSpPr>
        <p:spPr>
          <a:xfrm>
            <a:off x="6217920" y="1874520"/>
            <a:ext cx="5440680" cy="749808"/>
          </a:xfrm>
          <a:prstGeom prst="roundRect">
            <a:avLst>
              <a:gd name="adj" fmla="val 8537"/>
            </a:avLst>
          </a:prstGeom>
          <a:solidFill>
            <a:srgbClr val="121B2E"/>
          </a:solidFill>
          <a:ln w="12700">
            <a:solidFill>
              <a:srgbClr val="24314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82512" y="1975104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1" name="Image 1" descr="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956" y="2098548"/>
            <a:ext cx="301752" cy="30175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77456" y="194767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TOTP multi-factor authentication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7077456" y="2240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QR-code enrollment; mandatory platform-wide for Kelela staff, org-toggleable for tenants.</a:t>
            </a:r>
            <a:endParaRPr lang="en-US" sz="970" dirty="0"/>
          </a:p>
        </p:txBody>
      </p:sp>
      <p:sp>
        <p:nvSpPr>
          <p:cNvPr id="14" name="Shape 10"/>
          <p:cNvSpPr/>
          <p:nvPr/>
        </p:nvSpPr>
        <p:spPr>
          <a:xfrm>
            <a:off x="548640" y="2807208"/>
            <a:ext cx="5440680" cy="749808"/>
          </a:xfrm>
          <a:prstGeom prst="roundRect">
            <a:avLst>
              <a:gd name="adj" fmla="val 8537"/>
            </a:avLst>
          </a:prstGeom>
          <a:solidFill>
            <a:srgbClr val="121B2E"/>
          </a:solidFill>
          <a:ln w="12700">
            <a:solidFill>
              <a:srgbClr val="24314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3232" y="2907792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6" name="Image 2" descr="icons/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" y="3031236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08176" y="288036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Immutable audit log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1408176" y="31729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status change, upload, and export recorded — who, what, and when, append-only.</a:t>
            </a:r>
            <a:endParaRPr lang="en-US" sz="970" dirty="0"/>
          </a:p>
        </p:txBody>
      </p:sp>
      <p:sp>
        <p:nvSpPr>
          <p:cNvPr id="19" name="Shape 14"/>
          <p:cNvSpPr/>
          <p:nvPr/>
        </p:nvSpPr>
        <p:spPr>
          <a:xfrm>
            <a:off x="6217920" y="2807208"/>
            <a:ext cx="5440680" cy="749808"/>
          </a:xfrm>
          <a:prstGeom prst="roundRect">
            <a:avLst>
              <a:gd name="adj" fmla="val 8537"/>
            </a:avLst>
          </a:prstGeom>
          <a:solidFill>
            <a:srgbClr val="121B2E"/>
          </a:solidFill>
          <a:ln w="12700">
            <a:solidFill>
              <a:srgbClr val="24314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382512" y="2907792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21" name="Image 3" descr="icons/uplo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956" y="3031236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77456" y="288036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SHA-256 evidence integrity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7077456" y="31729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file hashed on receipt and re-verified on download; tampering is detected, not assumed absent.</a:t>
            </a:r>
            <a:endParaRPr lang="en-US" sz="970" dirty="0"/>
          </a:p>
        </p:txBody>
      </p:sp>
      <p:sp>
        <p:nvSpPr>
          <p:cNvPr id="24" name="Shape 18"/>
          <p:cNvSpPr/>
          <p:nvPr/>
        </p:nvSpPr>
        <p:spPr>
          <a:xfrm>
            <a:off x="548640" y="3739896"/>
            <a:ext cx="5440680" cy="749808"/>
          </a:xfrm>
          <a:prstGeom prst="roundRect">
            <a:avLst>
              <a:gd name="adj" fmla="val 8537"/>
            </a:avLst>
          </a:prstGeom>
          <a:solidFill>
            <a:srgbClr val="121B2E"/>
          </a:solidFill>
          <a:ln w="12700">
            <a:solidFill>
              <a:srgbClr val="24314D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13232" y="384048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26" name="Image 4" descr="icons/ale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" y="3963924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08176" y="381304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Brute-force lockout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1408176" y="410565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lock after 5 failed attempts; disabled accounts can't self-reactivate via password reset.</a:t>
            </a:r>
            <a:endParaRPr lang="en-US" sz="970" dirty="0"/>
          </a:p>
        </p:txBody>
      </p:sp>
      <p:sp>
        <p:nvSpPr>
          <p:cNvPr id="29" name="Shape 22"/>
          <p:cNvSpPr/>
          <p:nvPr/>
        </p:nvSpPr>
        <p:spPr>
          <a:xfrm>
            <a:off x="6217920" y="3739896"/>
            <a:ext cx="5440680" cy="749808"/>
          </a:xfrm>
          <a:prstGeom prst="roundRect">
            <a:avLst>
              <a:gd name="adj" fmla="val 8537"/>
            </a:avLst>
          </a:prstGeom>
          <a:solidFill>
            <a:srgbClr val="121B2E"/>
          </a:solidFill>
          <a:ln w="12700">
            <a:solidFill>
              <a:srgbClr val="24314D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382512" y="384048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31" name="Image 5" descr="icons/cod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3963924"/>
            <a:ext cx="301752" cy="30175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077456" y="381304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response headers</a:t>
            </a:r>
            <a:endParaRPr lang="en-US" sz="1250" dirty="0"/>
          </a:p>
        </p:txBody>
      </p:sp>
      <p:sp>
        <p:nvSpPr>
          <p:cNvPr id="33" name="Text 25"/>
          <p:cNvSpPr txBox="1"/>
          <p:nvPr/>
        </p:nvSpPr>
        <p:spPr>
          <a:xfrm>
            <a:off x="7077456" y="410565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HSTS, X-Frame-Options, and a locked-down Permissions-Policy on every response.</a:t>
            </a:r>
            <a:endParaRPr lang="en-US" sz="97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KELELA SOLUTIONS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33856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109960" cy="658368"/>
          </a:xfrm>
          <a:prstGeom prst="roundRect">
            <a:avLst>
              <a:gd name="adj" fmla="val 8333"/>
            </a:avLst>
          </a:prstGeom>
          <a:solidFill>
            <a:srgbClr val="121B2E"/>
          </a:solidFill>
          <a:ln w="12700">
            <a:solidFill>
              <a:srgbClr val="2431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108960" y="1920240"/>
            <a:ext cx="0" cy="475488"/>
          </a:xfrm>
          <a:prstGeom prst="line">
            <a:avLst/>
          </a:prstGeom>
          <a:noFill/>
          <a:ln w="12700">
            <a:solidFill>
              <a:srgbClr val="2431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828800"/>
            <a:ext cx="8092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(App Router) · TypeScript · Tailwind CSS · Recharts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1109960" cy="658368"/>
          </a:xfrm>
          <a:prstGeom prst="roundRect">
            <a:avLst>
              <a:gd name="adj" fmla="val 8333"/>
            </a:avLst>
          </a:prstGeom>
          <a:solidFill>
            <a:srgbClr val="121B2E"/>
          </a:solidFill>
          <a:ln w="12700">
            <a:solidFill>
              <a:srgbClr val="2431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6060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108960" y="2697480"/>
            <a:ext cx="0" cy="475488"/>
          </a:xfrm>
          <a:prstGeom prst="line">
            <a:avLst/>
          </a:prstGeom>
          <a:noFill/>
          <a:ln w="12700">
            <a:solidFill>
              <a:srgbClr val="2431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83280" y="2606040"/>
            <a:ext cx="8092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Route Handlers · Zod validation at every boundary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11109960" cy="658368"/>
          </a:xfrm>
          <a:prstGeom prst="roundRect">
            <a:avLst>
              <a:gd name="adj" fmla="val 8333"/>
            </a:avLst>
          </a:prstGeom>
          <a:solidFill>
            <a:srgbClr val="121B2E"/>
          </a:solidFill>
          <a:ln w="12700">
            <a:solidFill>
              <a:srgbClr val="2431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338328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108960" y="3474720"/>
            <a:ext cx="0" cy="475488"/>
          </a:xfrm>
          <a:prstGeom prst="line">
            <a:avLst/>
          </a:prstGeom>
          <a:noFill/>
          <a:ln w="12700">
            <a:solidFill>
              <a:srgbClr val="24314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83280" y="3383280"/>
            <a:ext cx="8092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Prisma ORM · audit-log tables with no update/delete grant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11109960" cy="658368"/>
          </a:xfrm>
          <a:prstGeom prst="roundRect">
            <a:avLst>
              <a:gd name="adj" fmla="val 8333"/>
            </a:avLst>
          </a:prstGeom>
          <a:solidFill>
            <a:srgbClr val="121B2E"/>
          </a:solidFill>
          <a:ln w="12700">
            <a:solidFill>
              <a:srgbClr val="2431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16052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 &amp; Security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108960" y="4251960"/>
            <a:ext cx="0" cy="475488"/>
          </a:xfrm>
          <a:prstGeom prst="line">
            <a:avLst/>
          </a:prstGeom>
          <a:noFill/>
          <a:ln w="12700">
            <a:solidFill>
              <a:srgbClr val="2431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83280" y="4160520"/>
            <a:ext cx="8092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in httpOnly cookies · Argon2id · TOTP MFA · RBAC guards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11109960" cy="658368"/>
          </a:xfrm>
          <a:prstGeom prst="roundRect">
            <a:avLst>
              <a:gd name="adj" fmla="val 8333"/>
            </a:avLst>
          </a:prstGeom>
          <a:solidFill>
            <a:srgbClr val="121B2E"/>
          </a:solidFill>
          <a:ln w="12700">
            <a:solidFill>
              <a:srgbClr val="2431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493776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&amp; Storage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3108960" y="5029200"/>
            <a:ext cx="0" cy="475488"/>
          </a:xfrm>
          <a:prstGeom prst="line">
            <a:avLst/>
          </a:prstGeom>
          <a:noFill/>
          <a:ln w="12700">
            <a:solidFill>
              <a:srgbClr val="24314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383280" y="4937760"/>
            <a:ext cx="8092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with local-dev fallback · evidence storage abstracted for S3 swap-in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80644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for one reason: every piece is something a small team can operate and reason about end to end — no unnecessary infrastructure.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KELELA SOLUTIONS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33856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84048" cy="384048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6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051" y="2189531"/>
            <a:ext cx="211226" cy="21122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" y="21214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invites &amp; self-service password reset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670048"/>
            <a:ext cx="384048" cy="384048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9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51" y="2756459"/>
            <a:ext cx="211226" cy="21122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51560" y="268833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MFA policy, per-org and platform-wide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3236976"/>
            <a:ext cx="384048" cy="384048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2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51" y="3323387"/>
            <a:ext cx="211226" cy="21122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51560" y="325526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Soft-delete tenant offboarding with full audit trail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709160" y="1783080"/>
            <a:ext cx="0" cy="4480560"/>
          </a:xfrm>
          <a:prstGeom prst="line">
            <a:avLst/>
          </a:prstGeom>
          <a:noFill/>
          <a:ln w="12700">
            <a:solidFill>
              <a:srgbClr val="24314D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502920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029200" y="2148840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17" name="Image 3" descr="icons/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2070" y="2251710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596128" y="212140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Sector-based auto control provisioning</a:t>
            </a:r>
            <a:endParaRPr lang="en-US" sz="1050" dirty="0"/>
          </a:p>
        </p:txBody>
      </p:sp>
      <p:sp>
        <p:nvSpPr>
          <p:cNvPr id="19" name="Text 13"/>
          <p:cNvSpPr txBox="1"/>
          <p:nvPr/>
        </p:nvSpPr>
        <p:spPr>
          <a:xfrm>
            <a:off x="5029200" y="2679192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telecom shouldn't see PCI DSS controls; auto-populate by sector at onboarding.</a:t>
            </a:r>
            <a:endParaRPr lang="en-US" sz="930" dirty="0"/>
          </a:p>
        </p:txBody>
      </p:sp>
      <p:sp>
        <p:nvSpPr>
          <p:cNvPr id="20" name="Shape 14"/>
          <p:cNvSpPr/>
          <p:nvPr/>
        </p:nvSpPr>
        <p:spPr>
          <a:xfrm>
            <a:off x="8503920" y="2148840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21" name="Image 4" descr="icons/dat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6790" y="2251710"/>
            <a:ext cx="251460" cy="2514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070848" y="212140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cloud evidence storage</a:t>
            </a:r>
            <a:endParaRPr lang="en-US" sz="1050" dirty="0"/>
          </a:p>
        </p:txBody>
      </p:sp>
      <p:sp>
        <p:nvSpPr>
          <p:cNvPr id="23" name="Text 16"/>
          <p:cNvSpPr txBox="1"/>
          <p:nvPr/>
        </p:nvSpPr>
        <p:spPr>
          <a:xfrm>
            <a:off x="8503920" y="2679192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local-disk storage for S3/GCS — the interface is already written for it.</a:t>
            </a:r>
            <a:endParaRPr lang="en-US" sz="930" dirty="0"/>
          </a:p>
        </p:txBody>
      </p:sp>
      <p:sp>
        <p:nvSpPr>
          <p:cNvPr id="24" name="Shape 17"/>
          <p:cNvSpPr/>
          <p:nvPr/>
        </p:nvSpPr>
        <p:spPr>
          <a:xfrm>
            <a:off x="5029200" y="3520440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25" name="Image 5" descr="icons/mai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2070" y="3623310"/>
            <a:ext cx="251460" cy="25146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596128" y="349300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SLA &amp; deadline alerts</a:t>
            </a:r>
            <a:endParaRPr lang="en-US" sz="1050" dirty="0"/>
          </a:p>
        </p:txBody>
      </p:sp>
      <p:sp>
        <p:nvSpPr>
          <p:cNvPr id="27" name="Text 19"/>
          <p:cNvSpPr txBox="1"/>
          <p:nvPr/>
        </p:nvSpPr>
        <p:spPr>
          <a:xfrm>
            <a:off x="5029200" y="4050792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Email/SMS notification the moment an incident clock or control due-date is at risk.</a:t>
            </a:r>
            <a:endParaRPr lang="en-US" sz="930" dirty="0"/>
          </a:p>
        </p:txBody>
      </p:sp>
      <p:sp>
        <p:nvSpPr>
          <p:cNvPr id="28" name="Shape 20"/>
          <p:cNvSpPr/>
          <p:nvPr/>
        </p:nvSpPr>
        <p:spPr>
          <a:xfrm>
            <a:off x="8503920" y="3520440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29" name="Image 6" descr="icons/glob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6790" y="3623310"/>
            <a:ext cx="251460" cy="25146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9070848" y="349300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Amharic language support</a:t>
            </a:r>
            <a:endParaRPr lang="en-US" sz="1050" dirty="0"/>
          </a:p>
        </p:txBody>
      </p:sp>
      <p:sp>
        <p:nvSpPr>
          <p:cNvPr id="31" name="Text 22"/>
          <p:cNvSpPr txBox="1"/>
          <p:nvPr/>
        </p:nvSpPr>
        <p:spPr>
          <a:xfrm>
            <a:off x="8503920" y="4050792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officers working day-to-day shouldn't be limited to English.</a:t>
            </a:r>
            <a:endParaRPr lang="en-US" sz="930" dirty="0"/>
          </a:p>
        </p:txBody>
      </p:sp>
      <p:sp>
        <p:nvSpPr>
          <p:cNvPr id="32" name="Shape 23"/>
          <p:cNvSpPr/>
          <p:nvPr/>
        </p:nvSpPr>
        <p:spPr>
          <a:xfrm>
            <a:off x="5029200" y="4892040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33" name="Image 7" descr="icons/phon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32070" y="4994910"/>
            <a:ext cx="251460" cy="25146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5596128" y="486460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companion app</a:t>
            </a:r>
            <a:endParaRPr lang="en-US" sz="1050" dirty="0"/>
          </a:p>
        </p:txBody>
      </p:sp>
      <p:sp>
        <p:nvSpPr>
          <p:cNvPr id="35" name="Text 25"/>
          <p:cNvSpPr txBox="1"/>
          <p:nvPr/>
        </p:nvSpPr>
        <p:spPr>
          <a:xfrm>
            <a:off x="5029200" y="5422392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alerts for incident SLAs and approvals while away from a desk.</a:t>
            </a:r>
            <a:endParaRPr lang="en-US" sz="930" dirty="0"/>
          </a:p>
        </p:txBody>
      </p:sp>
      <p:sp>
        <p:nvSpPr>
          <p:cNvPr id="36" name="Shape 26"/>
          <p:cNvSpPr/>
          <p:nvPr/>
        </p:nvSpPr>
        <p:spPr>
          <a:xfrm>
            <a:off x="8503920" y="4892040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37" name="Image 8" descr="icons/lin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06790" y="4994910"/>
            <a:ext cx="251460" cy="251460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9070848" y="486460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&amp; ticketing integrations</a:t>
            </a:r>
            <a:endParaRPr lang="en-US" sz="1050" dirty="0"/>
          </a:p>
        </p:txBody>
      </p:sp>
      <p:sp>
        <p:nvSpPr>
          <p:cNvPr id="39" name="Text 28"/>
          <p:cNvSpPr txBox="1"/>
          <p:nvPr/>
        </p:nvSpPr>
        <p:spPr>
          <a:xfrm>
            <a:off x="8503920" y="5422392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incidents in from existing security tooling instead of manual re-entry.</a:t>
            </a:r>
            <a:endParaRPr lang="en-US" sz="930" dirty="0"/>
          </a:p>
        </p:txBody>
      </p:sp>
      <p:sp>
        <p:nvSpPr>
          <p:cNvPr id="40" name="Text 29"/>
          <p:cNvSpPr txBox="1"/>
          <p:nvPr/>
        </p:nvSpPr>
        <p:spPr>
          <a:xfrm>
            <a:off x="54864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KELELA SOLUTIONS</a:t>
            </a:r>
            <a:endParaRPr lang="en-US" sz="900" dirty="0"/>
          </a:p>
        </p:txBody>
      </p:sp>
      <p:sp>
        <p:nvSpPr>
          <p:cNvPr id="41" name="Text 30"/>
          <p:cNvSpPr txBox="1"/>
          <p:nvPr/>
        </p:nvSpPr>
        <p:spPr>
          <a:xfrm>
            <a:off x="1133856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pic>
        <p:nvPicPr>
          <p:cNvPr id="3" name="Image 0" descr="icon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0505" y="11887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278892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that can be managed —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0" y="324612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proven.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0" y="41605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Kelela Solutions  ·  Cybersecurity Compliance Platform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0" y="51206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KELELA SOLUTIONS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33856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2026-09-06T12:10:46Z</dcterms:created>
  <dcterms:modified xsi:type="dcterms:W3CDTF">2026-09-06T12:10:46Z</dcterms:modified>
</cp:coreProperties>
</file>